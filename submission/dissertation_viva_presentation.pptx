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5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bd00878b584154" /><Relationship Type="http://schemas.openxmlformats.org/officeDocument/2006/relationships/extended-properties" Target="/docProps/app.xml" Id="Rd6e1da5c5d124f48" /><Relationship Type="http://schemas.openxmlformats.org/officeDocument/2006/relationships/officeDocument" Target="/ppt/presentation.xml" Id="R77b7fcbf1d9240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71ae3c9a854a41"/>
  </p:sldMasterIdLst>
  <p:notesMasterIdLst>
    <p:notesMasterId xmlns:r="http://schemas.openxmlformats.org/officeDocument/2006/relationships" r:id="Rffee437bb8c44df2"/>
  </p:notesMasterIdLst>
  <p:sldIdLst>
    <p:sldId xmlns:r="http://schemas.openxmlformats.org/officeDocument/2006/relationships" id="256" r:id="R188d06dad4824834"/>
    <p:sldId xmlns:r="http://schemas.openxmlformats.org/officeDocument/2006/relationships" id="257" r:id="R80d87d8331734f00"/>
    <p:sldId xmlns:r="http://schemas.openxmlformats.org/officeDocument/2006/relationships" id="258" r:id="R90a08a007007479b"/>
    <p:sldId xmlns:r="http://schemas.openxmlformats.org/officeDocument/2006/relationships" id="259" r:id="Rc9eed4d40d4d4db2"/>
    <p:sldId xmlns:r="http://schemas.openxmlformats.org/officeDocument/2006/relationships" id="260" r:id="Ra900ea2362e146ba"/>
    <p:sldId xmlns:r="http://schemas.openxmlformats.org/officeDocument/2006/relationships" id="261" r:id="R6ffe5a47aacd46a2"/>
    <p:sldId xmlns:r="http://schemas.openxmlformats.org/officeDocument/2006/relationships" id="262" r:id="Radbd0c137af34774"/>
    <p:sldId xmlns:r="http://schemas.openxmlformats.org/officeDocument/2006/relationships" id="263" r:id="Rd9bf96d6255a4e7d"/>
    <p:sldId xmlns:r="http://schemas.openxmlformats.org/officeDocument/2006/relationships" id="264" r:id="R2b1470aa38004d52"/>
    <p:sldId xmlns:r="http://schemas.openxmlformats.org/officeDocument/2006/relationships" id="265" r:id="Rf6b813f456174d59"/>
    <p:sldId xmlns:r="http://schemas.openxmlformats.org/officeDocument/2006/relationships" id="266" r:id="Rb86516bf50434829"/>
    <p:sldId xmlns:r="http://schemas.openxmlformats.org/officeDocument/2006/relationships" id="267" r:id="R43bca8c3502646a5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71ae3c9a854a41" /><Relationship Type="http://schemas.openxmlformats.org/officeDocument/2006/relationships/theme" Target="/ppt/theme/theme1.xml" Id="R95d6afb71c1c4380" /><Relationship Type="http://schemas.openxmlformats.org/officeDocument/2006/relationships/notesMaster" Target="/ppt/notesMasters/notesMaster1.xml" Id="Rffee437bb8c44df2" /><Relationship Type="http://schemas.openxmlformats.org/officeDocument/2006/relationships/presProps" Target="/ppt/presProps.xml" Id="R38fc1ce9b5f24f44" /><Relationship Type="http://schemas.openxmlformats.org/officeDocument/2006/relationships/viewProps" Target="/ppt/viewProps.xml" Id="Rb7baeb6f761a4d3d" /><Relationship Type="http://schemas.openxmlformats.org/officeDocument/2006/relationships/tableStyles" Target="/ppt/tableStyles.xml" Id="R66b44ebadc8e48bb" /><Relationship Type="http://schemas.openxmlformats.org/officeDocument/2006/relationships/slide" Target="/ppt/slides/slide1.xml" Id="R188d06dad4824834" /><Relationship Type="http://schemas.openxmlformats.org/officeDocument/2006/relationships/slide" Target="/ppt/slides/slide2.xml" Id="R80d87d8331734f00" /><Relationship Type="http://schemas.openxmlformats.org/officeDocument/2006/relationships/slide" Target="/ppt/slides/slide3.xml" Id="R90a08a007007479b" /><Relationship Type="http://schemas.openxmlformats.org/officeDocument/2006/relationships/slide" Target="/ppt/slides/slide4.xml" Id="Rc9eed4d40d4d4db2" /><Relationship Type="http://schemas.openxmlformats.org/officeDocument/2006/relationships/slide" Target="/ppt/slides/slide5.xml" Id="Ra900ea2362e146ba" /><Relationship Type="http://schemas.openxmlformats.org/officeDocument/2006/relationships/slide" Target="/ppt/slides/slide6.xml" Id="R6ffe5a47aacd46a2" /><Relationship Type="http://schemas.openxmlformats.org/officeDocument/2006/relationships/slide" Target="/ppt/slides/slide7.xml" Id="Radbd0c137af34774" /><Relationship Type="http://schemas.openxmlformats.org/officeDocument/2006/relationships/slide" Target="/ppt/slides/slide8.xml" Id="Rd9bf96d6255a4e7d" /><Relationship Type="http://schemas.openxmlformats.org/officeDocument/2006/relationships/slide" Target="/ppt/slides/slide9.xml" Id="R2b1470aa38004d52" /><Relationship Type="http://schemas.openxmlformats.org/officeDocument/2006/relationships/slide" Target="/ppt/slides/slide10.xml" Id="Rf6b813f456174d59" /><Relationship Type="http://schemas.openxmlformats.org/officeDocument/2006/relationships/slide" Target="/ppt/slides/slide11.xml" Id="Rb86516bf50434829" /><Relationship Type="http://schemas.openxmlformats.org/officeDocument/2006/relationships/slide" Target="/ppt/slides/slide12.xml" Id="R43bca8c3502646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f1cd08ead4441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3bfd80441c4361" /><Relationship Type="http://schemas.openxmlformats.org/officeDocument/2006/relationships/notesMaster" Target="/ppt/notesMasters/notesMaster1.xml" Id="R22f9d4a1773242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c5071775a8461e" /><Relationship Type="http://schemas.openxmlformats.org/officeDocument/2006/relationships/notesMaster" Target="/ppt/notesMasters/notesMaster1.xml" Id="Rc6c11daef01747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68d6c543064c65" /><Relationship Type="http://schemas.openxmlformats.org/officeDocument/2006/relationships/notesMaster" Target="/ppt/notesMasters/notesMaster1.xml" Id="R3e4c124daf9e48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e1c30e91bd4327" /><Relationship Type="http://schemas.openxmlformats.org/officeDocument/2006/relationships/notesMaster" Target="/ppt/notesMasters/notesMaster1.xml" Id="R36e18d2df6e947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030342072041de" /><Relationship Type="http://schemas.openxmlformats.org/officeDocument/2006/relationships/notesMaster" Target="/ppt/notesMasters/notesMaster1.xml" Id="Rc8c218c90d8947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9ea92661df4b73" /><Relationship Type="http://schemas.openxmlformats.org/officeDocument/2006/relationships/notesMaster" Target="/ppt/notesMasters/notesMaster1.xml" Id="Re6e9adb1dae744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1554ef8b4c4ddb" /><Relationship Type="http://schemas.openxmlformats.org/officeDocument/2006/relationships/notesMaster" Target="/ppt/notesMasters/notesMaster1.xml" Id="R6b6b362635d948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90f9b8599b4a50" /><Relationship Type="http://schemas.openxmlformats.org/officeDocument/2006/relationships/notesMaster" Target="/ppt/notesMasters/notesMaster1.xml" Id="R4368a2ee9dcc40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782491f7894f24" /><Relationship Type="http://schemas.openxmlformats.org/officeDocument/2006/relationships/notesMaster" Target="/ppt/notesMasters/notesMaster1.xml" Id="R95ecdca21b144b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0c319f6d9c64eb3" /><Relationship Type="http://schemas.openxmlformats.org/officeDocument/2006/relationships/notesMaster" Target="/ppt/notesMasters/notesMaster1.xml" Id="R8528155a93294e8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b256ad0259498f" /><Relationship Type="http://schemas.openxmlformats.org/officeDocument/2006/relationships/notesMaster" Target="/ppt/notesMasters/notesMaster1.xml" Id="Rbf05dd0ab59c42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6b60b4b564e443b" /><Relationship Type="http://schemas.openxmlformats.org/officeDocument/2006/relationships/notesMaster" Target="/ppt/notesMasters/notesMaster1.xml" Id="R52c7780b4ff249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722f5edf67401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0dff3fa50ff4491" /><Relationship Type="http://schemas.openxmlformats.org/officeDocument/2006/relationships/slideLayout" Target="/ppt/slideLayouts/slideLayout2.xml" Id="Rd42cf08f697a41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2cf08f697a41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e851e2317948ce" /><Relationship Type="http://schemas.openxmlformats.org/officeDocument/2006/relationships/notesSlide" Target="/ppt/notesSlides/notesSlide1.xml" Id="R2968c232a1784a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a00dd3e1d24c3f" /><Relationship Type="http://schemas.openxmlformats.org/officeDocument/2006/relationships/chart" Target="/ppt/slides/charts/chart1.xml" Id="R749ea18a0a784821" /><Relationship Type="http://schemas.openxmlformats.org/officeDocument/2006/relationships/notesSlide" Target="/ppt/notesSlides/notesSlide2.xml" Id="R515853023d2f46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f1bf98057e42b3" /><Relationship Type="http://schemas.openxmlformats.org/officeDocument/2006/relationships/notesSlide" Target="/ppt/notesSlides/notesSlide3.xml" Id="R86bf98b3504b4e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245677033c4199" /><Relationship Type="http://schemas.openxmlformats.org/officeDocument/2006/relationships/notesSlide" Target="/ppt/notesSlides/notesSlide4.xml" Id="Rb27b397761244f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6bde2c61ad48a2" /><Relationship Type="http://schemas.openxmlformats.org/officeDocument/2006/relationships/notesSlide" Target="/ppt/notesSlides/notesSlide5.xml" Id="R895777b147754b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6408042521435a" /><Relationship Type="http://schemas.openxmlformats.org/officeDocument/2006/relationships/notesSlide" Target="/ppt/notesSlides/notesSlide6.xml" Id="R8cc150fe464947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672c72f2d04383" /><Relationship Type="http://schemas.openxmlformats.org/officeDocument/2006/relationships/chart" Target="/ppt/slides/charts/chart2.xml" Id="Re7da82303e1c4b5d" /><Relationship Type="http://schemas.openxmlformats.org/officeDocument/2006/relationships/chart" Target="/ppt/slides/charts/chart3.xml" Id="R6c3187e08d9643f0" /><Relationship Type="http://schemas.openxmlformats.org/officeDocument/2006/relationships/notesSlide" Target="/ppt/notesSlides/notesSlide7.xml" Id="Rf22e5eb711c647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15c55640af42c3" /><Relationship Type="http://schemas.openxmlformats.org/officeDocument/2006/relationships/notesSlide" Target="/ppt/notesSlides/notesSlide8.xml" Id="R47bbace9ebb441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4a1c8b12104647" /><Relationship Type="http://schemas.openxmlformats.org/officeDocument/2006/relationships/chart" Target="/ppt/slides/charts/chart4.xml" Id="R404c8f928861431f" /><Relationship Type="http://schemas.openxmlformats.org/officeDocument/2006/relationships/notesSlide" Target="/ppt/notesSlides/notesSlide9.xml" Id="R5f7284cc592842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5aad66b8ee4702" /><Relationship Type="http://schemas.openxmlformats.org/officeDocument/2006/relationships/chart" Target="/ppt/slides/charts/chart5.xml" Id="R31eea0b85a35464a" /><Relationship Type="http://schemas.openxmlformats.org/officeDocument/2006/relationships/notesSlide" Target="/ppt/notesSlides/notesSlide10.xml" Id="R83add1c0963443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35ed21da334f00" /><Relationship Type="http://schemas.openxmlformats.org/officeDocument/2006/relationships/notesSlide" Target="/ppt/notesSlides/notesSlide11.xml" Id="Rb5105dff991d4c0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b72f0375244f99" /><Relationship Type="http://schemas.openxmlformats.org/officeDocument/2006/relationships/notesSlide" Target="/ppt/notesSlides/notesSlide12.xml" Id="Raeb9429eaff14042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[object Object]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Manual time distribution</c:v>
          </c:tx>
          <c:cat>
            <c:strLit>
              <c:ptCount val="4"/>
              <c:pt idx="0">
                <c:v>Less than 1h</c:v>
              </c:pt>
              <c:pt idx="1">
                <c:v>1 - 2h</c:v>
              </c:pt>
              <c:pt idx="2">
                <c:v>2 - 4h</c:v>
              </c:pt>
              <c:pt idx="3">
                <c:v>4+ h</c:v>
              </c:pt>
            </c:strLit>
          </c:cat>
          <c:val>
            <c:numLit>
              <c:formatCode/>
              <c:ptCount val="4"/>
              <c:pt idx="0">
                <c:v>2</c:v>
              </c:pt>
              <c:pt idx="1">
                <c:v>3</c:v>
              </c:pt>
              <c:pt idx="2">
                <c:v>3</c:v>
              </c:pt>
              <c:pt idx="3">
                <c:v>2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[object Object]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Final training loss</c:v>
          </c:tx>
          <c:cat>
            <c:strLit>
              <c:ptCount val="3"/>
              <c:pt idx="0">
                <c:v>FT1</c:v>
              </c:pt>
              <c:pt idx="1">
                <c:v>FT2</c:v>
              </c:pt>
              <c:pt idx="2">
                <c:v>FT3</c:v>
              </c:pt>
            </c:strLit>
          </c:cat>
          <c:val>
            <c:numLit>
              <c:formatCode/>
              <c:ptCount val="3"/>
              <c:pt idx="0">
                <c:v>1.27</c:v>
              </c:pt>
              <c:pt idx="1">
                <c:v>1.36</c:v>
              </c:pt>
              <c:pt idx="2">
                <c:v>1.88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3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[object Object]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Final mean token accuracy</c:v>
          </c:tx>
          <c:cat>
            <c:strLit>
              <c:ptCount val="3"/>
              <c:pt idx="0">
                <c:v>FT1</c:v>
              </c:pt>
              <c:pt idx="1">
                <c:v>FT2</c:v>
              </c:pt>
              <c:pt idx="2">
                <c:v>FT3</c:v>
              </c:pt>
            </c:strLit>
          </c:cat>
          <c:val>
            <c:numLit>
              <c:formatCode/>
              <c:ptCount val="3"/>
              <c:pt idx="0">
                <c:v>0.69</c:v>
              </c:pt>
              <c:pt idx="1">
                <c:v>0.67</c:v>
              </c:pt>
              <c:pt idx="2">
                <c:v>0.6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4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[object Object]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Mean generation seconds</c:v>
          </c:tx>
          <c:cat>
            <c:strLit>
              <c:ptCount val="7"/>
              <c:pt idx="0">
                <c:v>GPT-5.4 Zero</c:v>
              </c:pt>
              <c:pt idx="1">
                <c:v>GPT-5.4 Single</c:v>
              </c:pt>
              <c:pt idx="2">
                <c:v>GPT-5.4 Few</c:v>
              </c:pt>
              <c:pt idx="3">
                <c:v>FT1</c:v>
              </c:pt>
              <c:pt idx="4">
                <c:v>FT2</c:v>
              </c:pt>
              <c:pt idx="5">
                <c:v>FT3</c:v>
              </c:pt>
              <c:pt idx="6">
                <c:v>FT4</c:v>
              </c:pt>
            </c:strLit>
          </c:cat>
          <c:val>
            <c:numLit>
              <c:formatCode/>
              <c:ptCount val="7"/>
              <c:pt idx="0">
                <c:v>64.5</c:v>
              </c:pt>
              <c:pt idx="1">
                <c:v>72.2</c:v>
              </c:pt>
              <c:pt idx="2">
                <c:v>65.3</c:v>
              </c:pt>
              <c:pt idx="3">
                <c:v>15</c:v>
              </c:pt>
              <c:pt idx="4">
                <c:v>12.4</c:v>
              </c:pt>
              <c:pt idx="5">
                <c:v>13.5</c:v>
              </c:pt>
              <c:pt idx="6">
                <c:v>165.5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5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[object Object]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Mean reviewer scores</c:v>
          </c:tx>
          <c:cat>
            <c:strLit>
              <c:ptCount val="6"/>
              <c:pt idx="0">
                <c:v>Professional</c:v>
              </c:pt>
              <c:pt idx="1">
                <c:v>Style</c:v>
              </c:pt>
              <c:pt idx="2">
                <c:v>Flow</c:v>
              </c:pt>
              <c:pt idx="3">
                <c:v>Variances</c:v>
              </c:pt>
              <c:pt idx="4">
                <c:v>Mandatory</c:v>
              </c:pt>
              <c:pt idx="5">
                <c:v>Trust</c:v>
              </c:pt>
            </c:strLit>
          </c:cat>
          <c:val>
            <c:numLit>
              <c:formatCode/>
              <c:ptCount val="6"/>
              <c:pt idx="0">
                <c:v>4.2</c:v>
              </c:pt>
              <c:pt idx="1">
                <c:v>3.8</c:v>
              </c:pt>
              <c:pt idx="2">
                <c:v>4.2</c:v>
              </c:pt>
              <c:pt idx="3">
                <c:v>4.1</c:v>
              </c:pt>
              <c:pt idx="4">
                <c:v>4.5</c:v>
              </c:pt>
              <c:pt idx="5">
                <c:v>3.3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E3A4F3-0595-4560-9DC0-4F97F034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295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Dissertation Viva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81F591-8594-4767-99A2-995E6881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43000"/>
            <a:ext cx="577215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F172A"/>
                </a:solidFill>
              </a:defRPr>
            </a:pPr>
            <a:r>
              <a:rPr sz="4500" b="1">
                <a:solidFill>
                  <a:srgbClr val="0F172A"/>
                </a:solidFill>
              </a:rPr>
              <a:t>Automating Year-End Accounting Notes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0756B-31F9-48D0-B29B-E294F528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74866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4155"/>
                </a:solidFill>
              </a:defRPr>
            </a:pPr>
            <a:r>
              <a:rPr sz="2100">
                <a:solidFill>
                  <a:srgbClr val="334155"/>
                </a:solidFill>
              </a:rPr>
              <a:t>An AI system to generate audit-ready financial statement notes from Xero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9032E-3D84-438A-A451-004B1CCA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3BDF3-8EBD-49F3-8821-8E91D0FB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70294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34155"/>
                </a:solidFill>
              </a:defRPr>
            </a:pPr>
            <a:r>
              <a:rPr sz="1875">
                <a:solidFill>
                  <a:srgbClr val="334155"/>
                </a:solidFill>
              </a:rPr>
              <a:t>• Deterministic accounting logic for numeric trust.</a:t>
            </a:r>
          </a:p>
          <a:p xmlns:a="http://schemas.openxmlformats.org/drawingml/2006/main">
            <a:pPr>
              <a:defRPr sz="1875">
                <a:solidFill>
                  <a:srgbClr val="334155"/>
                </a:solidFill>
              </a:defRPr>
            </a:pPr>
            <a:r>
              <a:rPr sz="1875">
                <a:solidFill>
                  <a:srgbClr val="334155"/>
                </a:solidFill>
              </a:rPr>
              <a:t>• Multi-agent orchestration for drafting and review structure.</a:t>
            </a:r>
          </a:p>
          <a:p xmlns:a="http://schemas.openxmlformats.org/drawingml/2006/main">
            <a:pPr>
              <a:defRPr sz="1875">
                <a:solidFill>
                  <a:srgbClr val="334155"/>
                </a:solidFill>
              </a:defRPr>
            </a:pPr>
            <a:r>
              <a:rPr sz="1875">
                <a:solidFill>
                  <a:srgbClr val="334155"/>
                </a:solidFill>
              </a:rPr>
              <a:t>• Live benchmarking and human evaluation to test real usefulness.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756A7-7E24-4F23-9140-4B9C8C41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41719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Jatin Arora | Student ID 22830110</a:t>
            </a:r>
          </a:p>
          <a:p xmlns:a="http://schemas.openxmlformats.org/drawingml/2006/main">
            <a:pPr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B.Sc. (Hons) Artificial Intelligence &amp; Data Science</a:t>
            </a:r>
          </a:p>
          <a:p xmlns:a="http://schemas.openxmlformats.org/drawingml/2006/main">
            <a:pPr>
              <a:defRPr sz="1500">
                <a:solidFill>
                  <a:srgbClr val="64748B"/>
                </a:solidFill>
              </a:defRPr>
            </a:pPr>
            <a:r>
              <a:rPr sz="1500">
                <a:solidFill>
                  <a:srgbClr val="64748B"/>
                </a:solidFill>
              </a:rPr>
              <a:t>Supervisor: Dr. Mu. Mu. | May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705D0-A862-4981-82C2-373BEA4B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42950"/>
            <a:ext cx="1238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Core thesis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C393FE-CD4E-440B-B862-F32FB8E0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428750"/>
            <a:ext cx="65722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The project supports AI as a reviewer-facing first-draft assistant, not as an autonomous accounting system.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A04FA-2AC4-457F-ADE7-32332219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28900"/>
            <a:ext cx="661035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Prompt-engineered GPT-5.4 was compared against live GPT-4.1 fine-tuned deployments.</a:t>
            </a:r>
          </a:p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The strongest reviewer-facing candidate was GPT-4.1 Fine-Tuned 2.</a:t>
            </a:r>
          </a:p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The evaluation combined validation data, measured timing, and 10 professional respondents.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A1B45-7E86-4E50-BA42-A17B545D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29100"/>
            <a:ext cx="3638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Best stable latency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505310-E9F5-41DF-8737-F28B1D9A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38650"/>
            <a:ext cx="3638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6534"/>
                </a:solidFill>
              </a:defRPr>
            </a:pPr>
            <a:r>
              <a:rPr sz="2250" b="1">
                <a:solidFill>
                  <a:srgbClr val="166534"/>
                </a:solidFill>
              </a:rPr>
              <a:t>12.4 seconds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F289DA-5AA2-40CD-B19E-5E0B223D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4229100"/>
            <a:ext cx="3638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Baseline drafting effort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EFFF57-B72F-4301-9528-91FB7ABD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4438650"/>
            <a:ext cx="3638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2.35 hours</a:t>
            </a:r>
          </a:p>
        </p:txBody>
      </p:sp>
    </p:spTree>
    <p:extLst>
      <p:ext uri="{BB962C8B-B14F-4D97-AF65-F5344CB8AC3E}">
        <p14:creationId xmlns:p14="http://schemas.microsoft.com/office/powerpoint/2010/main" val="8482355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22D72D-1B4D-4A2C-9EA2-7A2D5879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56007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Why this problem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1F9E1-1420-47D5-A197-AAC09B1D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5DAA3-0F00-40D0-ADD3-5E2C7D2A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12934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Review-note drafting is time-consuming, judgement-heavy, and still sensitive to evidence gaps and professional accountability.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06E3A-2736-4BC6-BDD6-DD32A9D2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905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Survey 1 baseline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9610A-FBCC-402B-A8C8-5EF628C0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36766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172A"/>
                </a:solidFill>
              </a:defRPr>
            </a:pPr>
            <a:r>
              <a:rPr sz="3150" b="1">
                <a:solidFill>
                  <a:srgbClr val="0F172A"/>
                </a:solidFill>
              </a:rPr>
              <a:t>2.35 hours per note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0C98AE-AE7C-4BFA-9A09-CB750808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65913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Eight of 10 respondents spent at least one hour per note.</a:t>
            </a:r>
          </a:p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Five of 10 respondents spent two hours or more.</a:t>
            </a:r>
          </a:p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Hard cases included fixed assets, accruals, related parties, and directors' loan accounts.</a:t>
            </a:r>
          </a:p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The system therefore has to save time without bypassing review judgement.</a:t>
            </a:r>
          </a:p>
        </p:txBody>
      </p:sp>
      <p:graphicFrame>
        <p:nvGraphicFramePr>
          <p:cNvPr id="7" name="manual-time"/>
          <p:cNvGraphicFramePr/>
          <p:nvPr/>
        </p:nvGraphicFramePr>
        <p:xfrm>
          <a:off xmlns:a="http://schemas.openxmlformats.org/drawingml/2006/main" x="8522970" y="2333625"/>
          <a:ext xmlns:a="http://schemas.openxmlformats.org/drawingml/2006/main" cx="8926830" cy="495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9ea18a0a784821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61AA7B-7CBE-4203-AAFA-F99224E1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7429500"/>
            <a:ext cx="3962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Counts derived from the 10-person baseline survey.</a:t>
            </a:r>
          </a:p>
        </p:txBody>
      </p:sp>
    </p:spTree>
    <p:extLst>
      <p:ext uri="{BB962C8B-B14F-4D97-AF65-F5344CB8AC3E}">
        <p14:creationId xmlns:p14="http://schemas.microsoft.com/office/powerpoint/2010/main" val="13818780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E34963-D4D4-4774-A6A2-8FF15E09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7772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Aim, objectives, and research focus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8E1307-4607-42C4-A6B4-56440E49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D881D-A361-4EA4-9C9E-2ABCA243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13106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The dissertation is asking whether AI can accelerate first-draft note production while keeping the numeric layer deterministic and auditable.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02E19-23EA-41D3-95FA-D251A653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1DD8B9-0A98-4B5B-B837-ED93EEA4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67437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Design, build, and evaluate an AI-assisted system that drafts UK year-end accounting review notes from Xero-derived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ECD4A-F319-4242-A120-1C2E7910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1162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Objectives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6CFF0-CA6F-4AF4-A01E-AB9BEB1A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67056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Enforce the Decimal Mandate for numeric fidelity.</a:t>
            </a:r>
          </a:p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Structure drafting through multi-agent orchestration.</a:t>
            </a:r>
          </a:p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Compare prompt engineering and fine-tuning using real outputs, timings, and human evaluation.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CB7A1-9B4C-4D00-94CD-5623C015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90800"/>
            <a:ext cx="2171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Research questions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FC4F74-4CD1-4DFC-8D6A-D30C52E2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90850"/>
            <a:ext cx="69723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Can the system reduce drafting effort without losing numeric trust?</a:t>
            </a:r>
          </a:p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Does the multi-agent design improve accounting-style outputs?</a:t>
            </a:r>
          </a:p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Which strategy is strongest in practice: GPT-5.4 prompting or GPT-4.1 fine-tuning?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868A17-C3CE-49E8-B795-499B3F81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076700"/>
            <a:ext cx="4152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Recommended reviewer-facing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D14D6E-07C2-44D5-A7A9-31F776BF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05350"/>
            <a:ext cx="3276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6534"/>
                </a:solidFill>
              </a:defRPr>
            </a:pPr>
            <a:r>
              <a:rPr sz="2550" b="1">
                <a:solidFill>
                  <a:srgbClr val="166534"/>
                </a:solidFill>
              </a:rPr>
              <a:t>GPT-4.1 Fine-Tuned 2</a:t>
            </a:r>
          </a:p>
        </p:txBody>
      </p:sp>
    </p:spTree>
    <p:extLst>
      <p:ext uri="{BB962C8B-B14F-4D97-AF65-F5344CB8AC3E}">
        <p14:creationId xmlns:p14="http://schemas.microsoft.com/office/powerpoint/2010/main" val="21228408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3DF647-40AE-442C-B3E5-AE49AC42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4381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3FA20-DC10-4B5A-9264-91ED5F4F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382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FD7EB-C9B8-471C-9455-757BC15C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09700"/>
            <a:ext cx="13087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The design keeps deterministic accounting computation separate from narrative generation so the model never has to invent the numeric backbone.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4DE321-53B4-49FC-832A-816B0042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3562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Stage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DBB8D-378B-4BCF-AD82-2027456D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38400"/>
            <a:ext cx="20002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Xero and working-paper inputs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2454B7-69B3-4C22-84EB-EE4B8740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23050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Trial balance, journals, comparatives, and supporting records enter the pipeline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D4F35-1BA6-47D2-AA1D-896CB563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00650"/>
            <a:ext cx="457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563EB"/>
                </a:solidFill>
              </a:defRPr>
            </a:pPr>
            <a:r>
              <a:rPr sz="36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0D85F-AA86-4315-8D72-9D72A952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71700"/>
            <a:ext cx="3562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Stage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78E493-F7B9-477E-91A1-3CC3B43C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38400"/>
            <a:ext cx="2381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Deterministic Decimal Mandate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14D66-0F40-4251-92ED-B7F060AD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05150"/>
            <a:ext cx="23050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All material figures, variances, and evidence structures are computed in code.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0B4EBE-9E9D-441A-B480-1251940F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00650"/>
            <a:ext cx="457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563EB"/>
                </a:solidFill>
              </a:defRPr>
            </a:pPr>
            <a:r>
              <a:rPr sz="36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E9B268-620A-49C2-BF3F-271CAA28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3562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Stage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129073-991D-4DC8-BDF2-CB5F4C0C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38400"/>
            <a:ext cx="21336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CrewAI drafting workflow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AC60F3-96DD-49AC-B312-D54B06A6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90900"/>
            <a:ext cx="24003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Specialised roles handle extraction, synthesis, and quality review prompts.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7E9746-F4CE-40CC-8FC1-4517A1D5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5200650"/>
            <a:ext cx="457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563EB"/>
                </a:solidFill>
              </a:defRPr>
            </a:pPr>
            <a:r>
              <a:rPr sz="36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22DAF2-62D4-4BF2-8302-F1A22B8C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171700"/>
            <a:ext cx="3562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Stage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6C0B0A-55EB-49F1-8E5A-B0B916A2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38400"/>
            <a:ext cx="19812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Accountant review surface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986E7D-87CD-42C0-AE45-D233D704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3390900"/>
            <a:ext cx="23622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The user reviews, edits, and escalates rather than accepting autonomous output.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3686A5-EC64-4FD1-8CA1-8DE7B862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991600"/>
            <a:ext cx="8477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• Architecturally, the key move is shrinking the part of the task left to stochastic generation.</a:t>
            </a:r>
          </a:p>
          <a:p xmlns:a="http://schemas.openxmlformats.org/drawingml/2006/main">
            <a:pPr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• That is what makes the system more defensible in a finance setting.</a:t>
            </a:r>
          </a:p>
        </p:txBody>
      </p:sp>
    </p:spTree>
    <p:extLst>
      <p:ext uri="{BB962C8B-B14F-4D97-AF65-F5344CB8AC3E}">
        <p14:creationId xmlns:p14="http://schemas.microsoft.com/office/powerpoint/2010/main" val="14743106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3775EA-5E11-446F-B803-AB1908FD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102679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Data pipeline, restrictions, and privacy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041EF-CE52-406E-B303-78EB0D30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A52DEB-851D-4D4D-B89E-68D25104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13430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The dissertation had to show not just model behaviour, but also where client data is transformed, masked, constrained, and handed back to human reviewers.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C1B2A-97FD-423F-A264-C1832277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1390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Pipeline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B718A-D11E-481C-985F-961FDA5B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70675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Blob or local working-paper inputs are normalised.</a:t>
            </a:r>
          </a:p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Xero enrichment and ledger mapping create structured training or validation examples.</a:t>
            </a:r>
          </a:p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JSONL outputs are generated for fine-tuning and prompt-evaluation workflows.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76904-9701-4914-9193-BCCF0DEE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179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Restriction logic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DB9A5-54A4-44BD-B25A-1959C4FF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6629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Company-specific mandatory review triggers are preserved.</a:t>
            </a:r>
          </a:p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The system raises queries rather than silently assuming missing evidence.</a:t>
            </a:r>
          </a:p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No autonomous filing path is exposed.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5A5703-AF87-446B-9A86-C74E5BAC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90800"/>
            <a:ext cx="308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Privacy and GDPR concerns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4C3C5-ABB5-4BED-A78F-FDAB8920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71800"/>
            <a:ext cx="66294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Data minimisation: only the material context needed for drafting should be exposed to model calls.</a:t>
            </a:r>
          </a:p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Masking and anonymisation: client-sensitive details should be redacted before dataset construction.</a:t>
            </a:r>
          </a:p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Accountability: final professional responsibility remains with the accountant reviewing the note.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B82D29-2053-4D75-AA48-C753CA4F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495800"/>
            <a:ext cx="2228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Practical implication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19D2C1-F1F2-46D6-9DBA-DE7EC8C1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105400"/>
            <a:ext cx="6934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A technically good draft is not enough on its own. The workflow also has to stay auditable, confidential, and reviewable.</a:t>
            </a:r>
          </a:p>
        </p:txBody>
      </p:sp>
    </p:spTree>
    <p:extLst>
      <p:ext uri="{BB962C8B-B14F-4D97-AF65-F5344CB8AC3E}">
        <p14:creationId xmlns:p14="http://schemas.microsoft.com/office/powerpoint/2010/main" val="194303403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B08093-8ABE-4266-A52C-3B6507CC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9163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Application workflow and demo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3D48A-65AA-4490-996E-4D2DB3AB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382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6A43A-6EF4-4097-9A71-A1FDED13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09700"/>
            <a:ext cx="11658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The recorded viva needs to show that the project is a real usable system rather than only an experiment notebook.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3FA32-4BA3-4D75-8A63-CC2B4725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811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Step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2326D-1F8D-4D0B-8AEF-59446EB9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3714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Login and client 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95CA7-D1C1-4036-8FB4-D55BB032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5924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Quickly establish the user journey and the professional context.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27667-FD8C-4B94-8703-7A021671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33600"/>
            <a:ext cx="811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Step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3977E-B13C-418F-9994-EF671E41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00300"/>
            <a:ext cx="44005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Period setup and note 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0E6B81-03A2-40E4-9346-1FAAFB51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05150"/>
            <a:ext cx="6000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Show how the target company and reporting period are defined.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4068EF-A70C-49B1-B03C-0EB029FC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00750"/>
            <a:ext cx="811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Step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C2600A-01E1-406E-9A1C-CFE8D603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67450"/>
            <a:ext cx="4857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Generation and progress visibility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E26061-B296-4EB7-BCA0-8192A82B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72300"/>
            <a:ext cx="7143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Explain the multi-agent progress states rather than presenting the system as a black box.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2FE81E-FD66-4D48-8CC3-A8E6C8AD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000750"/>
            <a:ext cx="811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Step 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2D8149-E6D0-48A0-85B5-838F4D14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267450"/>
            <a:ext cx="3295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Generated note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A4D3C8-AAC2-4938-A919-F05B74EF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667500"/>
            <a:ext cx="5905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Point out where the accountant still edits, verifies, or escalates.</a:t>
            </a:r>
          </a:p>
        </p:txBody>
      </p:sp>
    </p:spTree>
    <p:extLst>
      <p:ext uri="{BB962C8B-B14F-4D97-AF65-F5344CB8AC3E}">
        <p14:creationId xmlns:p14="http://schemas.microsoft.com/office/powerpoint/2010/main" val="11926289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CE0B04-7BEB-49E2-B5FD-0D961A55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85915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Fine-tuning runs and training behaviour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C8E7D-76D8-4ED9-B3E7-4E342233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382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23DA9-B0C6-420E-8933-D311979D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09700"/>
            <a:ext cx="1203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All three main fine-tuning runs are represented directly in the viva rather than collapsing them into one tidy screenshot.</a:t>
            </a:r>
          </a:p>
        </p:txBody>
      </p:sp>
      <p:graphicFrame>
        <p:nvGraphicFramePr>
          <p:cNvPr id="4" name="ft-loss"/>
          <p:cNvGraphicFramePr/>
          <p:nvPr/>
        </p:nvGraphicFramePr>
        <p:xfrm>
          <a:off xmlns:a="http://schemas.openxmlformats.org/drawingml/2006/main" x="838200" y="1876425"/>
          <a:ext xmlns:a="http://schemas.openxmlformats.org/drawingml/2006/main" cx="8143875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7da82303e1c4b5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5B6C5-F6A3-4A72-99CE-6924A57A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514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Lower is better. FT3 converged more weakly than the first two runs.</a:t>
            </a:r>
          </a:p>
        </p:txBody>
      </p:sp>
      <p:graphicFrame>
        <p:nvGraphicFramePr>
          <p:cNvPr id="6" name="ft-acc"/>
          <p:cNvGraphicFramePr/>
          <p:nvPr/>
        </p:nvGraphicFramePr>
        <p:xfrm>
          <a:off xmlns:a="http://schemas.openxmlformats.org/drawingml/2006/main" x="9305925" y="1876425"/>
          <a:ext xmlns:a="http://schemas.openxmlformats.org/drawingml/2006/main" cx="8143875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3187e08d9643f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314CA-6958-469F-A43E-86908FEA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429250"/>
            <a:ext cx="6419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Higher is better. FT1 and FT2 ended with stronger token-accuracy profiles than FT3.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6C560-9572-4AD5-888F-BC3B9CD2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201150"/>
            <a:ext cx="12230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• Training metrics helped narrow the candidate set, but the final decision came from live benchmark behaviour.</a:t>
            </a:r>
          </a:p>
          <a:p xmlns:a="http://schemas.openxmlformats.org/drawingml/2006/main">
            <a:pPr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• GPT-4.1 Fine-Tuned 2 remained the best reviewer-facing choice after combining speed, output stability, and human-evaluation fit.</a:t>
            </a:r>
          </a:p>
        </p:txBody>
      </p:sp>
    </p:spTree>
    <p:extLst>
      <p:ext uri="{BB962C8B-B14F-4D97-AF65-F5344CB8AC3E}">
        <p14:creationId xmlns:p14="http://schemas.microsoft.com/office/powerpoint/2010/main" val="22772875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55292F-E7A8-4516-9C1D-F4B3706C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75438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Representative output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9AD5F-32AC-4097-9256-6E7D9ABC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4189F8-31A5-4E25-870B-B266602C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12611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The comparison is not only about speed. It is also about what kind of draft each method produces on a real validation case.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88BC5-B7D4-4049-AFF4-756A42FB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537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Reference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6A49B-3253-45C8-9337-AEB021A3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552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Gold accountant note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6A5C9-E254-4778-BA52-655707C5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43053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“Queries CITB Levy - outstanding liabilities for previous years are still unadjusted after assessment received...”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0E47E-C651-4B2D-933E-DAFE0350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71750"/>
            <a:ext cx="537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Prompted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E444DA-FF2D-4502-8249-E3B54938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38450"/>
            <a:ext cx="2171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GPT-5.4 Zero-Shot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D09848-F592-4C0A-81A2-73A81FEB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81350"/>
            <a:ext cx="4362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“Obtain and review final bank statements, loan statements, fixed asset register, dividend paperwork...”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DDBA33-422F-489E-9D70-A049C78D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2571750"/>
            <a:ext cx="537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Selected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822A0-2084-473F-8C97-40341466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2838450"/>
            <a:ext cx="2514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6534"/>
                </a:solidFill>
              </a:defRPr>
            </a:pPr>
            <a:r>
              <a:rPr sz="1950" b="1">
                <a:solidFill>
                  <a:srgbClr val="166534"/>
                </a:solidFill>
              </a:rPr>
              <a:t>GPT-4.1 Fine-Tuned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51A535-AA50-4123-930E-4F6CAAAC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3181350"/>
            <a:ext cx="45339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“Admin expenses: £400k v £400k prior year, including directors’ salaries: £210k v £210k prior year.”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48CF8F-DFD1-461A-A898-7DA094B8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991600"/>
            <a:ext cx="85915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• The accountant reference is query-led and professionally specific.</a:t>
            </a:r>
          </a:p>
          <a:p xmlns:a="http://schemas.openxmlformats.org/drawingml/2006/main">
            <a:pPr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• The prompt baseline often produced broader checklist-style outputs.</a:t>
            </a:r>
          </a:p>
          <a:p xmlns:a="http://schemas.openxmlformats.org/drawingml/2006/main">
            <a:pPr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• FT2 was concise and stable, but still needed reviewer judgement for edge-case specificity.</a:t>
            </a:r>
          </a:p>
        </p:txBody>
      </p:sp>
    </p:spTree>
    <p:extLst>
      <p:ext uri="{BB962C8B-B14F-4D97-AF65-F5344CB8AC3E}">
        <p14:creationId xmlns:p14="http://schemas.microsoft.com/office/powerpoint/2010/main" val="54790779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C883A0-565A-4D85-874C-4FCE8FB6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5219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Live benchmark timings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E21F4-FA89-4B85-A87A-F8259FD9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382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94772-0721-4973-B067-345A27E5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09700"/>
            <a:ext cx="12725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The live benchmark measured all seven methods on representative validation cases so the comparison reflects real deployed behaviour rather than made-up timings.</a:t>
            </a:r>
          </a:p>
        </p:txBody>
      </p:sp>
      <p:graphicFrame>
        <p:nvGraphicFramePr>
          <p:cNvPr id="4" name="timings"/>
          <p:cNvGraphicFramePr/>
          <p:nvPr/>
        </p:nvGraphicFramePr>
        <p:xfrm>
          <a:off xmlns:a="http://schemas.openxmlformats.org/drawingml/2006/main" x="838200" y="2105025"/>
          <a:ext xmlns:a="http://schemas.openxmlformats.org/drawingml/2006/main" cx="9354503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4c8f928861431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0C045-C26C-4CD5-9D0D-36B105A4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91350"/>
            <a:ext cx="3943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Measured from the stored live benchmark manifest.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F7E3D-8CB1-421E-9179-08E50713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114550"/>
            <a:ext cx="2152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Operational reading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098DD2-C99B-42D4-BB7F-3F6888A5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95550"/>
            <a:ext cx="56769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Prompt-engineering baselines averaged roughly 64 to 72 seconds.</a:t>
            </a:r>
          </a:p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FT2 averaged 12.4 seconds and remained structurally stable.</a:t>
            </a:r>
          </a:p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FT4 was the slowest and least stable because one run expanded to the output ceiling.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610F3-F342-4606-ACE0-07C7588D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01955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Most useful conclusion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2BFB2D-7138-4A24-9545-2010FE50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400550"/>
            <a:ext cx="5829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Fine-tuning helped when it stayed controlled, but the dissertation treats unstable fine-tuned behaviour as a real result rather than hiding it.</a:t>
            </a:r>
          </a:p>
        </p:txBody>
      </p:sp>
    </p:spTree>
    <p:extLst>
      <p:ext uri="{BB962C8B-B14F-4D97-AF65-F5344CB8AC3E}">
        <p14:creationId xmlns:p14="http://schemas.microsoft.com/office/powerpoint/2010/main" val="16386902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9124FE-D479-4D45-82DE-82E888E6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5524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Human evaluation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D404E-A9C4-4A14-9791-185BC027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BAAFC-02B6-4F39-92BA-34E0D6EE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13411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The human-evaluation stage explicitly used GPT-4.1 Fine-Tuned 2 because it was the most sensible deployment candidate after the live benchmark.</a:t>
            </a:r>
          </a:p>
        </p:txBody>
      </p:sp>
      <p:graphicFrame>
        <p:nvGraphicFramePr>
          <p:cNvPr id="4" name="human-scores"/>
          <p:cNvGraphicFramePr/>
          <p:nvPr/>
        </p:nvGraphicFramePr>
        <p:xfrm>
          <a:off xmlns:a="http://schemas.openxmlformats.org/drawingml/2006/main" x="838200" y="2562225"/>
          <a:ext xmlns:a="http://schemas.openxmlformats.org/drawingml/2006/main" cx="8947785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1eea0b85a35464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730309-4F48-4BC7-9DAD-82BD3193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48550"/>
            <a:ext cx="4838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Ten professional respondents reviewed the AI-generated notes.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1C6E8-AD62-4AD7-89F4-E06B596C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571750"/>
            <a:ext cx="148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Interpretation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499B2-C74E-4D72-B8D1-F215A8E3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952750"/>
            <a:ext cx="607695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Reviewers found the drafts professionally useful, especially for mandatory points and general flow.</a:t>
            </a:r>
          </a:p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The trust score was lower, which is a healthy outcome in a domain that still expects human review.</a:t>
            </a:r>
          </a:p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Most edits related to specificity, style, and final judgement rather than basic structure.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9F2573-AC2F-4383-9577-601C3378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476750"/>
            <a:ext cx="5905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That is why the dissertation frames the system as a drafting accelerator, not a replacement for accountant responsibility.</a:t>
            </a:r>
          </a:p>
        </p:txBody>
      </p:sp>
    </p:spTree>
    <p:extLst>
      <p:ext uri="{BB962C8B-B14F-4D97-AF65-F5344CB8AC3E}">
        <p14:creationId xmlns:p14="http://schemas.microsoft.com/office/powerpoint/2010/main" val="146334954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EEAE06-98E3-4CD8-83E3-4A664D52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6750"/>
            <a:ext cx="7696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Limitations, GDPR, and future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CC678-CD58-43A8-81C1-337E880B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382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CC924-EDBD-41B1-B621-775A84D4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09700"/>
            <a:ext cx="11029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The project is promising, but it still has to be presented with honest limits and clear professional boundaries.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24112-552A-4AC6-89B0-5AEFB62E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1219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91C1C"/>
                </a:solidFill>
              </a:defRPr>
            </a:pPr>
            <a:r>
              <a:rPr sz="1800" b="1">
                <a:solidFill>
                  <a:srgbClr val="B91C1C"/>
                </a:solidFill>
              </a:rPr>
              <a:t>Limitations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61B149-B6D1-4F7E-951C-7328E68A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7086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The live benchmark was a three-case subset, so results are meaningful but not exhaustive.</a:t>
            </a:r>
          </a:p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The human-evaluation sample was real and relevant, but still small.</a:t>
            </a:r>
          </a:p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Edge cases with ambiguous evidence still require careful review and escalation.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D63EC-1CB9-4042-A9F4-8E3F93DB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05000"/>
            <a:ext cx="2990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Governance and next steps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59A31-CC06-43E6-A986-21A1A90B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05050"/>
            <a:ext cx="718185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Data minimisation and anonymisation remain central GDPR requirements.</a:t>
            </a:r>
          </a:p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The accountant remains professionally accountable for the final note.</a:t>
            </a:r>
          </a:p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Future work should expand benchmark coverage and strengthen restriction-aware evidence packaging.</a:t>
            </a:r>
          </a:p>
        </p:txBody>
      </p:sp>
    </p:spTree>
    <p:extLst>
      <p:ext uri="{BB962C8B-B14F-4D97-AF65-F5344CB8AC3E}">
        <p14:creationId xmlns:p14="http://schemas.microsoft.com/office/powerpoint/2010/main" val="58570986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68A33D-F151-4E30-8120-A1666781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2950"/>
            <a:ext cx="6858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Conclusion and recorded demo 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38B6B-D45B-42C0-A5AE-CAB6C5E7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6EA38-9FFD-4BF9-9960-25715E29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10839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The dissertation supports AI as a controlled reviewer-facing draft generator for year-end accounting notes.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484EC-3208-493B-8A1C-E9B4D433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56388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6534"/>
                </a:solidFill>
              </a:defRPr>
            </a:pPr>
            <a:r>
              <a:rPr sz="2550" b="1">
                <a:solidFill>
                  <a:srgbClr val="166534"/>
                </a:solidFill>
              </a:rPr>
              <a:t>Recommended deployment: GPT-4.1 Fine-Tuned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45A04-C7B7-48CD-9CA3-F02E8F6F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687705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The strongest contribution is the combination of deterministic accounting logic, multi-agent orchestration, and real evaluation.</a:t>
            </a:r>
          </a:p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The strongest practical outcome is a working codebase and user workflow that match the written report.</a:t>
            </a:r>
          </a:p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The key professional conclusion is that the system is most useful when it accelerates drafting but keeps human judgement in control.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22EE6-A6B4-4097-9810-47DC4CAC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742950"/>
            <a:ext cx="1828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Demo checklist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A8274-2387-4900-A3CF-D2C346BF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162050"/>
            <a:ext cx="61341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Show login and client selection.</a:t>
            </a:r>
          </a:p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Show period setup and note request.</a:t>
            </a:r>
          </a:p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Show generation progress and review surface.</a:t>
            </a:r>
          </a:p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• Close by linking the demo back to timing gains and human review controls.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79461-B7E0-469D-A5D1-E450BF8D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76500"/>
            <a:ext cx="20955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172A"/>
                </a:solidFill>
              </a:defRPr>
            </a:pPr>
            <a:r>
              <a:rPr sz="3150" b="1">
                <a:solidFill>
                  <a:srgbClr val="0F172A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2962572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2026-05-05T04:31:21.2060000Z</dcterms:created>
  <dcterms:modified xsi:type="dcterms:W3CDTF">2026-05-05T04:31:21.2060000Z</dcterms:modified>
</coreProperties>
</file>